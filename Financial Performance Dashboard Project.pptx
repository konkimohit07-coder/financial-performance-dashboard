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7CA3-5463-7630-FA2C-FA0CFC6228A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9D4CC7B4-E3FA-6384-0EE9-1108C28244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792112A8-0796-AE04-706D-796869B32937}"/>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5" name="Footer Placeholder 4">
            <a:extLst>
              <a:ext uri="{FF2B5EF4-FFF2-40B4-BE49-F238E27FC236}">
                <a16:creationId xmlns:a16="http://schemas.microsoft.com/office/drawing/2014/main" id="{25E0E1E1-2687-D2BE-B41F-23BE66D5F3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FDBE43-2FE0-8232-4BF4-169EFCAC6082}"/>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424977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449B-E2EF-A038-FDB5-BEF7C1885CB7}"/>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95B6A6A3-B0B8-7C19-EE30-8CEDA82704D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4A8302F-0C4D-E42B-09EC-0B0E3A9311D4}"/>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5" name="Footer Placeholder 4">
            <a:extLst>
              <a:ext uri="{FF2B5EF4-FFF2-40B4-BE49-F238E27FC236}">
                <a16:creationId xmlns:a16="http://schemas.microsoft.com/office/drawing/2014/main" id="{ACF35037-FA16-76C1-1C84-6CF3216619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F3158B-003A-10FC-5125-E57C158BBB2C}"/>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753529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94AB-8FE7-F710-0C84-B1D67A91450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5785BAE8-9646-212B-92F8-D813923B37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74F8490-CE30-BBC6-1DE1-52CE8D59D357}"/>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5" name="Footer Placeholder 4">
            <a:extLst>
              <a:ext uri="{FF2B5EF4-FFF2-40B4-BE49-F238E27FC236}">
                <a16:creationId xmlns:a16="http://schemas.microsoft.com/office/drawing/2014/main" id="{3C062AC7-1402-F12C-F4B8-E99B73752B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2FDF82-E61F-2D9A-C030-131025553FC9}"/>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141621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9743E-2102-8D21-6AF5-990A378E4E74}"/>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E81A8C70-E968-40CB-CA62-19E88F12FA0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E130C4B7-D1D2-8BE6-DCC5-5C3D423A573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D4B26869-6EB6-A572-8C73-4D2141F51230}"/>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6" name="Footer Placeholder 5">
            <a:extLst>
              <a:ext uri="{FF2B5EF4-FFF2-40B4-BE49-F238E27FC236}">
                <a16:creationId xmlns:a16="http://schemas.microsoft.com/office/drawing/2014/main" id="{06F2F120-35DB-F16B-6842-A56C37BC2E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59D84A-A322-6BC0-6F2A-7418F872BC0E}"/>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1932166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656A3-DB4C-14EB-2821-ABC80F6F0CFF}"/>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B79A1099-FE79-5C80-9606-08EB6FA4F4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9276DB7-E6DF-87C6-EB8B-248A666032C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FEA7F803-F5F0-CE06-BA7A-99D03F879A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DD64D1F-F0C4-985D-73D7-DB2C3A84F11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142EB185-64E4-4B5E-13FA-D57A56FB48BA}"/>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8" name="Footer Placeholder 7">
            <a:extLst>
              <a:ext uri="{FF2B5EF4-FFF2-40B4-BE49-F238E27FC236}">
                <a16:creationId xmlns:a16="http://schemas.microsoft.com/office/drawing/2014/main" id="{FBBA0728-447D-2519-6509-D686B56685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60CBED-E041-55D2-D403-E8D2AC8AA139}"/>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3227688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E7341-D62A-2D3E-47F4-D266F0B020FA}"/>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F79A48A2-11E4-C284-679B-0B0D5820BBC3}"/>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4" name="Footer Placeholder 3">
            <a:extLst>
              <a:ext uri="{FF2B5EF4-FFF2-40B4-BE49-F238E27FC236}">
                <a16:creationId xmlns:a16="http://schemas.microsoft.com/office/drawing/2014/main" id="{2DA12419-0927-E841-9B61-D604D8C93D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B4E390-9A2C-0BB9-967C-063441C8D130}"/>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72877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132AF6-56AE-ED84-F3A0-C48898095BF9}"/>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3" name="Footer Placeholder 2">
            <a:extLst>
              <a:ext uri="{FF2B5EF4-FFF2-40B4-BE49-F238E27FC236}">
                <a16:creationId xmlns:a16="http://schemas.microsoft.com/office/drawing/2014/main" id="{1F21C83E-EFE8-42C8-B59D-06E9CE7E65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6FF671-17F8-9D07-67EE-0195363CCCB7}"/>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3647980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3F2C4-6C21-16BE-84E0-3BD5EEB28B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97712E5F-656E-F477-867F-EFE3BC9564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3F9A5B77-A6EF-E4B7-0F1C-863DE37EA9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F29F07F-7BF2-A51C-56C5-BFD3849C2DE0}"/>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6" name="Footer Placeholder 5">
            <a:extLst>
              <a:ext uri="{FF2B5EF4-FFF2-40B4-BE49-F238E27FC236}">
                <a16:creationId xmlns:a16="http://schemas.microsoft.com/office/drawing/2014/main" id="{7380AAFC-0C65-427C-46C3-B76A441188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B1321A-2FFD-94D6-830E-3CFFC3734A67}"/>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155132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B65AD-BC36-5038-50E7-F128F358E4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8B8F63D7-8C3C-9806-0760-7E0EA223EA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805F89-3921-A5B0-54CA-EE8AEEE10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A324331-1C07-C486-4272-04D5AD997334}"/>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6" name="Footer Placeholder 5">
            <a:extLst>
              <a:ext uri="{FF2B5EF4-FFF2-40B4-BE49-F238E27FC236}">
                <a16:creationId xmlns:a16="http://schemas.microsoft.com/office/drawing/2014/main" id="{82112C3C-3C8D-E8C1-783A-C2643241BF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9599B5-72CD-38CC-9515-443A634A990E}"/>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370791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E41C-B264-93C2-EA3B-DBE008B27F6A}"/>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DB274B3E-72D5-A59A-F707-5D94B669CD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387A12B-E28B-30A1-A0B7-0A2F883E9B5E}"/>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5" name="Footer Placeholder 4">
            <a:extLst>
              <a:ext uri="{FF2B5EF4-FFF2-40B4-BE49-F238E27FC236}">
                <a16:creationId xmlns:a16="http://schemas.microsoft.com/office/drawing/2014/main" id="{79292559-17B5-9502-5951-6E9074CBD3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3FA19-0223-53B3-4766-400EAD2E6EC1}"/>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4154026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A27BA0-7076-DE1E-3F2C-9AAC1A8067C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0E25C940-CAD4-9DEA-8480-37190C017B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6E18751-569A-2863-26B5-AEB02FAD6D1F}"/>
              </a:ext>
            </a:extLst>
          </p:cNvPr>
          <p:cNvSpPr>
            <a:spLocks noGrp="1"/>
          </p:cNvSpPr>
          <p:nvPr>
            <p:ph type="dt" sz="half" idx="10"/>
          </p:nvPr>
        </p:nvSpPr>
        <p:spPr/>
        <p:txBody>
          <a:bodyPr/>
          <a:lstStyle/>
          <a:p>
            <a:fld id="{2EFEE0BD-1CB3-49A3-A7DD-38EFE17A026A}" type="datetimeFigureOut">
              <a:rPr lang="en-IN" smtClean="0"/>
              <a:t>25-05-2026</a:t>
            </a:fld>
            <a:endParaRPr lang="en-IN"/>
          </a:p>
        </p:txBody>
      </p:sp>
      <p:sp>
        <p:nvSpPr>
          <p:cNvPr id="5" name="Footer Placeholder 4">
            <a:extLst>
              <a:ext uri="{FF2B5EF4-FFF2-40B4-BE49-F238E27FC236}">
                <a16:creationId xmlns:a16="http://schemas.microsoft.com/office/drawing/2014/main" id="{E61C173F-3489-A0FD-BC72-3A6C31EB9D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1C1EE5-E661-E968-BA9A-698A497D2B94}"/>
              </a:ext>
            </a:extLst>
          </p:cNvPr>
          <p:cNvSpPr>
            <a:spLocks noGrp="1"/>
          </p:cNvSpPr>
          <p:nvPr>
            <p:ph type="sldNum" sz="quarter" idx="12"/>
          </p:nvPr>
        </p:nvSpPr>
        <p:spPr/>
        <p:txBody>
          <a:bodyPr/>
          <a:lstStyle/>
          <a:p>
            <a:fld id="{AF7C2C9B-1208-4B75-B59D-717BD3CA8B78}" type="slidenum">
              <a:rPr lang="en-IN" smtClean="0"/>
              <a:t>‹#›</a:t>
            </a:fld>
            <a:endParaRPr lang="en-IN"/>
          </a:p>
        </p:txBody>
      </p:sp>
    </p:spTree>
    <p:extLst>
      <p:ext uri="{BB962C8B-B14F-4D97-AF65-F5344CB8AC3E}">
        <p14:creationId xmlns:p14="http://schemas.microsoft.com/office/powerpoint/2010/main" val="3325483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3D8ACF-F157-6009-FBB2-09F7A9016F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55A30B76-8328-314A-353F-C792DC53C8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5616136-E217-F033-4795-E0148A225A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FEE0BD-1CB3-49A3-A7DD-38EFE17A026A}" type="datetimeFigureOut">
              <a:rPr lang="en-IN" smtClean="0"/>
              <a:t>25-05-2026</a:t>
            </a:fld>
            <a:endParaRPr lang="en-IN"/>
          </a:p>
        </p:txBody>
      </p:sp>
      <p:sp>
        <p:nvSpPr>
          <p:cNvPr id="5" name="Footer Placeholder 4">
            <a:extLst>
              <a:ext uri="{FF2B5EF4-FFF2-40B4-BE49-F238E27FC236}">
                <a16:creationId xmlns:a16="http://schemas.microsoft.com/office/drawing/2014/main" id="{424DA136-21DE-A911-3638-8D253A7BE5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57FA077-D379-1422-FCFA-C0AB200F7D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7C2C9B-1208-4B75-B59D-717BD3CA8B78}" type="slidenum">
              <a:rPr lang="en-IN" smtClean="0"/>
              <a:t>‹#›</a:t>
            </a:fld>
            <a:endParaRPr lang="en-IN"/>
          </a:p>
        </p:txBody>
      </p:sp>
    </p:spTree>
    <p:extLst>
      <p:ext uri="{BB962C8B-B14F-4D97-AF65-F5344CB8AC3E}">
        <p14:creationId xmlns:p14="http://schemas.microsoft.com/office/powerpoint/2010/main" val="1258776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06034-0F7D-15A6-95BC-87EB2F5B4F88}"/>
              </a:ext>
            </a:extLst>
          </p:cNvPr>
          <p:cNvSpPr>
            <a:spLocks noGrp="1"/>
          </p:cNvSpPr>
          <p:nvPr>
            <p:ph type="ctrTitle"/>
          </p:nvPr>
        </p:nvSpPr>
        <p:spPr>
          <a:xfrm>
            <a:off x="1524000" y="164134"/>
            <a:ext cx="9144000" cy="1436066"/>
          </a:xfrm>
        </p:spPr>
        <p:txBody>
          <a:bodyPr>
            <a:normAutofit/>
          </a:bodyPr>
          <a:lstStyle/>
          <a:p>
            <a:r>
              <a:rPr lang="en-IN" sz="4800" b="1" i="1" dirty="0">
                <a:latin typeface="Arial" panose="020B0604020202020204" pitchFamily="34" charset="0"/>
                <a:cs typeface="Arial" panose="020B0604020202020204" pitchFamily="34" charset="0"/>
              </a:rPr>
              <a:t>Financial Performance Dashboard Project </a:t>
            </a:r>
          </a:p>
        </p:txBody>
      </p:sp>
      <p:sp>
        <p:nvSpPr>
          <p:cNvPr id="3" name="Subtitle 2">
            <a:extLst>
              <a:ext uri="{FF2B5EF4-FFF2-40B4-BE49-F238E27FC236}">
                <a16:creationId xmlns:a16="http://schemas.microsoft.com/office/drawing/2014/main" id="{E32CD0C8-4ABF-0258-2D5A-B9A8A886806C}"/>
              </a:ext>
            </a:extLst>
          </p:cNvPr>
          <p:cNvSpPr>
            <a:spLocks noGrp="1"/>
          </p:cNvSpPr>
          <p:nvPr>
            <p:ph type="subTitle" idx="1"/>
          </p:nvPr>
        </p:nvSpPr>
        <p:spPr>
          <a:xfrm>
            <a:off x="190107" y="1734532"/>
            <a:ext cx="11811785" cy="5052766"/>
          </a:xfrm>
        </p:spPr>
        <p:txBody>
          <a:bodyPr>
            <a:normAutofit/>
          </a:bodyPr>
          <a:lstStyle/>
          <a:p>
            <a:pPr algn="l"/>
            <a:r>
              <a:rPr lang="en-US" sz="1800" b="1" dirty="0">
                <a:latin typeface="Arial" panose="020B0604020202020204" pitchFamily="34" charset="0"/>
                <a:cs typeface="Arial" panose="020B0604020202020204" pitchFamily="34" charset="0"/>
              </a:rPr>
              <a:t>Objective: </a:t>
            </a:r>
            <a:r>
              <a:rPr lang="en-US" sz="1800" dirty="0">
                <a:latin typeface="Arial" panose="020B0604020202020204" pitchFamily="34" charset="0"/>
                <a:cs typeface="Arial" panose="020B0604020202020204" pitchFamily="34" charset="0"/>
              </a:rPr>
              <a:t>The goal of this Tableau project is to analyze financial performance across different countries, products, and time periods, using key financial metrics such as sales, profit, cost of goods sold (COGS), and discounts.</a:t>
            </a:r>
          </a:p>
          <a:p>
            <a:pPr algn="l"/>
            <a:r>
              <a:rPr lang="en-IN" sz="1800" b="1" dirty="0"/>
              <a:t>Columns Provided: </a:t>
            </a:r>
          </a:p>
          <a:p>
            <a:pPr algn="l"/>
            <a:r>
              <a:rPr lang="en-IN" sz="1800" dirty="0"/>
              <a:t>Segment                                               Manufacturing Price                              COGS                                          Year </a:t>
            </a:r>
          </a:p>
          <a:p>
            <a:pPr algn="l"/>
            <a:r>
              <a:rPr lang="en-IN" sz="1800" dirty="0"/>
              <a:t>Country                                                 Sale Price                                                    Profit </a:t>
            </a:r>
          </a:p>
          <a:p>
            <a:pPr algn="l"/>
            <a:r>
              <a:rPr lang="en-IN" sz="1800" dirty="0"/>
              <a:t>Product                                                 Gross Sales                                                Date </a:t>
            </a:r>
          </a:p>
          <a:p>
            <a:pPr algn="l"/>
            <a:r>
              <a:rPr lang="en-IN" sz="1800" dirty="0"/>
              <a:t>Discount Band                                   Discounts                                                   Month Number </a:t>
            </a:r>
          </a:p>
          <a:p>
            <a:pPr algn="l"/>
            <a:r>
              <a:rPr lang="en-IN" sz="1800" dirty="0"/>
              <a:t>Units Sold                                            Sales                                                              Month Name </a:t>
            </a:r>
          </a:p>
          <a:p>
            <a:pPr algn="l"/>
            <a:endParaRPr lang="en-IN" sz="1800" dirty="0"/>
          </a:p>
          <a:p>
            <a:pPr algn="l"/>
            <a:r>
              <a:rPr lang="en-US" sz="1800" b="1" dirty="0">
                <a:latin typeface="Arial" panose="020B0604020202020204" pitchFamily="34" charset="0"/>
                <a:cs typeface="Arial" panose="020B0604020202020204" pitchFamily="34" charset="0"/>
              </a:rPr>
              <a:t>Problem Statement :</a:t>
            </a:r>
          </a:p>
          <a:p>
            <a:pPr marL="285750" indent="-285750" algn="l">
              <a:buFont typeface="Arial" panose="020B0604020202020204" pitchFamily="34" charset="0"/>
              <a:buChar char="•"/>
            </a:pPr>
            <a:r>
              <a:rPr lang="en-US" sz="1800" dirty="0"/>
              <a:t>The goal of this Power BI Dashboard Project is to analyze the financial performance of a company using the provided Microsoft Sample Data.</a:t>
            </a:r>
          </a:p>
          <a:p>
            <a:pPr marL="285750" indent="-285750" algn="l">
              <a:buFont typeface="Arial" panose="020B0604020202020204" pitchFamily="34" charset="0"/>
              <a:buChar char="•"/>
            </a:pPr>
            <a:r>
              <a:rPr lang="en-US" sz="1800" dirty="0"/>
              <a:t>To create a visually appealing dashboard that provides an overview of the company's financial metrics enabling stakeholders to make informed business decisions. </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5174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9C9366-8CAD-90E4-CE53-C17FE8747081}"/>
              </a:ext>
            </a:extLst>
          </p:cNvPr>
          <p:cNvSpPr>
            <a:spLocks noGrp="1"/>
          </p:cNvSpPr>
          <p:nvPr>
            <p:ph type="title"/>
          </p:nvPr>
        </p:nvSpPr>
        <p:spPr>
          <a:xfrm>
            <a:off x="293802" y="326857"/>
            <a:ext cx="10515600" cy="539848"/>
          </a:xfrm>
        </p:spPr>
        <p:txBody>
          <a:bodyPr>
            <a:normAutofit/>
          </a:bodyPr>
          <a:lstStyle/>
          <a:p>
            <a:r>
              <a:rPr lang="en-US" sz="2400" b="1" dirty="0"/>
              <a:t>Dataset </a:t>
            </a:r>
            <a:endParaRPr lang="en-IN" sz="2400" b="1" dirty="0"/>
          </a:p>
        </p:txBody>
      </p:sp>
      <p:pic>
        <p:nvPicPr>
          <p:cNvPr id="8" name="Picture 7" descr="A screenshot of a computer&#10;&#10;AI-generated content may be incorrect.">
            <a:extLst>
              <a:ext uri="{FF2B5EF4-FFF2-40B4-BE49-F238E27FC236}">
                <a16:creationId xmlns:a16="http://schemas.microsoft.com/office/drawing/2014/main" id="{405DD914-47BA-7D9D-D8DC-D1F917D7F81F}"/>
              </a:ext>
            </a:extLst>
          </p:cNvPr>
          <p:cNvPicPr>
            <a:picLocks noChangeAspect="1"/>
          </p:cNvPicPr>
          <p:nvPr/>
        </p:nvPicPr>
        <p:blipFill>
          <a:blip r:embed="rId2"/>
          <a:stretch>
            <a:fillRect/>
          </a:stretch>
        </p:blipFill>
        <p:spPr>
          <a:xfrm>
            <a:off x="293802" y="866705"/>
            <a:ext cx="11604396" cy="5871740"/>
          </a:xfrm>
          <a:prstGeom prst="rect">
            <a:avLst/>
          </a:prstGeom>
        </p:spPr>
      </p:pic>
    </p:spTree>
    <p:extLst>
      <p:ext uri="{BB962C8B-B14F-4D97-AF65-F5344CB8AC3E}">
        <p14:creationId xmlns:p14="http://schemas.microsoft.com/office/powerpoint/2010/main" val="3093196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95868-2922-F466-BF81-DABB54ED6E20}"/>
            </a:ext>
          </a:extLst>
        </p:cNvPr>
        <p:cNvGrpSpPr/>
        <p:nvPr/>
      </p:nvGrpSpPr>
      <p:grpSpPr>
        <a:xfrm>
          <a:off x="0" y="0"/>
          <a:ext cx="0" cy="0"/>
          <a:chOff x="0" y="0"/>
          <a:chExt cx="0" cy="0"/>
        </a:xfrm>
      </p:grpSpPr>
      <p:pic>
        <p:nvPicPr>
          <p:cNvPr id="4" name="Picture 3" descr="A close-up of a chart&#10;&#10;AI-generated content may be incorrect.">
            <a:extLst>
              <a:ext uri="{FF2B5EF4-FFF2-40B4-BE49-F238E27FC236}">
                <a16:creationId xmlns:a16="http://schemas.microsoft.com/office/drawing/2014/main" id="{1579CBAF-79DC-92FE-A61A-892CBB619786}"/>
              </a:ext>
            </a:extLst>
          </p:cNvPr>
          <p:cNvPicPr>
            <a:picLocks noChangeAspect="1"/>
          </p:cNvPicPr>
          <p:nvPr/>
        </p:nvPicPr>
        <p:blipFill>
          <a:blip r:embed="rId2"/>
          <a:stretch>
            <a:fillRect/>
          </a:stretch>
        </p:blipFill>
        <p:spPr>
          <a:xfrm>
            <a:off x="125947" y="282805"/>
            <a:ext cx="11926496" cy="6363092"/>
          </a:xfrm>
          <a:prstGeom prst="rect">
            <a:avLst/>
          </a:prstGeom>
        </p:spPr>
      </p:pic>
    </p:spTree>
    <p:extLst>
      <p:ext uri="{BB962C8B-B14F-4D97-AF65-F5344CB8AC3E}">
        <p14:creationId xmlns:p14="http://schemas.microsoft.com/office/powerpoint/2010/main" val="1623789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C3571-6C9D-18F0-D07F-0CFD8C2D3354}"/>
            </a:ext>
          </a:extLst>
        </p:cNvPr>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54119BA3-8D25-FC8A-FDB6-48EA7E203477}"/>
              </a:ext>
            </a:extLst>
          </p:cNvPr>
          <p:cNvPicPr>
            <a:picLocks noChangeAspect="1"/>
          </p:cNvPicPr>
          <p:nvPr/>
        </p:nvPicPr>
        <p:blipFill>
          <a:blip r:embed="rId2"/>
          <a:stretch>
            <a:fillRect/>
          </a:stretch>
        </p:blipFill>
        <p:spPr>
          <a:xfrm>
            <a:off x="329938" y="840711"/>
            <a:ext cx="11532124" cy="5570755"/>
          </a:xfrm>
          <a:prstGeom prst="rect">
            <a:avLst/>
          </a:prstGeom>
        </p:spPr>
      </p:pic>
      <p:sp>
        <p:nvSpPr>
          <p:cNvPr id="4" name="Title 3">
            <a:extLst>
              <a:ext uri="{FF2B5EF4-FFF2-40B4-BE49-F238E27FC236}">
                <a16:creationId xmlns:a16="http://schemas.microsoft.com/office/drawing/2014/main" id="{655367F6-E7A4-7CED-1D99-19DABF2405E3}"/>
              </a:ext>
            </a:extLst>
          </p:cNvPr>
          <p:cNvSpPr>
            <a:spLocks noGrp="1"/>
          </p:cNvSpPr>
          <p:nvPr>
            <p:ph type="title"/>
          </p:nvPr>
        </p:nvSpPr>
        <p:spPr>
          <a:xfrm>
            <a:off x="329938" y="365125"/>
            <a:ext cx="10515600" cy="475586"/>
          </a:xfrm>
        </p:spPr>
        <p:txBody>
          <a:bodyPr>
            <a:noAutofit/>
          </a:bodyPr>
          <a:lstStyle/>
          <a:p>
            <a:r>
              <a:rPr lang="en-US" sz="2400" b="1" dirty="0"/>
              <a:t>Sales by Country (Bar graph)</a:t>
            </a:r>
            <a:endParaRPr lang="en-IN" sz="2400" b="1" dirty="0"/>
          </a:p>
        </p:txBody>
      </p:sp>
    </p:spTree>
    <p:extLst>
      <p:ext uri="{BB962C8B-B14F-4D97-AF65-F5344CB8AC3E}">
        <p14:creationId xmlns:p14="http://schemas.microsoft.com/office/powerpoint/2010/main" val="22305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54CF-929D-CC71-56C8-C1810202FDE5}"/>
            </a:ext>
          </a:extLst>
        </p:cNvPr>
        <p:cNvGrpSpPr/>
        <p:nvPr/>
      </p:nvGrpSpPr>
      <p:grpSpPr>
        <a:xfrm>
          <a:off x="0" y="0"/>
          <a:ext cx="0" cy="0"/>
          <a:chOff x="0" y="0"/>
          <a:chExt cx="0" cy="0"/>
        </a:xfrm>
      </p:grpSpPr>
      <p:pic>
        <p:nvPicPr>
          <p:cNvPr id="3" name="Picture 2" descr="A graph on a computer screen&#10;&#10;AI-generated content may be incorrect.">
            <a:extLst>
              <a:ext uri="{FF2B5EF4-FFF2-40B4-BE49-F238E27FC236}">
                <a16:creationId xmlns:a16="http://schemas.microsoft.com/office/drawing/2014/main" id="{246FEC18-54AB-104E-B453-F485B0B84DCC}"/>
              </a:ext>
            </a:extLst>
          </p:cNvPr>
          <p:cNvPicPr>
            <a:picLocks noChangeAspect="1"/>
          </p:cNvPicPr>
          <p:nvPr/>
        </p:nvPicPr>
        <p:blipFill>
          <a:blip r:embed="rId2"/>
          <a:stretch>
            <a:fillRect/>
          </a:stretch>
        </p:blipFill>
        <p:spPr>
          <a:xfrm>
            <a:off x="339365" y="864890"/>
            <a:ext cx="11513270" cy="5549648"/>
          </a:xfrm>
          <a:prstGeom prst="rect">
            <a:avLst/>
          </a:prstGeom>
        </p:spPr>
      </p:pic>
      <p:sp>
        <p:nvSpPr>
          <p:cNvPr id="4" name="Title 3">
            <a:extLst>
              <a:ext uri="{FF2B5EF4-FFF2-40B4-BE49-F238E27FC236}">
                <a16:creationId xmlns:a16="http://schemas.microsoft.com/office/drawing/2014/main" id="{DD0F2C1A-9471-FDA1-D390-1048AFFC0AE5}"/>
              </a:ext>
            </a:extLst>
          </p:cNvPr>
          <p:cNvSpPr>
            <a:spLocks noGrp="1"/>
          </p:cNvSpPr>
          <p:nvPr>
            <p:ph type="title"/>
          </p:nvPr>
        </p:nvSpPr>
        <p:spPr>
          <a:xfrm>
            <a:off x="339365" y="365125"/>
            <a:ext cx="7683631" cy="499765"/>
          </a:xfrm>
        </p:spPr>
        <p:txBody>
          <a:bodyPr>
            <a:normAutofit/>
          </a:bodyPr>
          <a:lstStyle/>
          <a:p>
            <a:r>
              <a:rPr lang="en-IN" sz="2400" b="1" dirty="0"/>
              <a:t>Sales Trend (Line Graph) </a:t>
            </a:r>
          </a:p>
        </p:txBody>
      </p:sp>
    </p:spTree>
    <p:extLst>
      <p:ext uri="{BB962C8B-B14F-4D97-AF65-F5344CB8AC3E}">
        <p14:creationId xmlns:p14="http://schemas.microsoft.com/office/powerpoint/2010/main" val="2588761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705A-C4D6-3B02-F2AE-64EDFBE8956B}"/>
            </a:ext>
          </a:extLst>
        </p:cNvPr>
        <p:cNvGrpSpPr/>
        <p:nvPr/>
      </p:nvGrpSpPr>
      <p:grpSpPr>
        <a:xfrm>
          <a:off x="0" y="0"/>
          <a:ext cx="0" cy="0"/>
          <a:chOff x="0" y="0"/>
          <a:chExt cx="0" cy="0"/>
        </a:xfrm>
      </p:grpSpPr>
      <p:pic>
        <p:nvPicPr>
          <p:cNvPr id="3" name="Picture 2" descr="A screen shot of a graph&#10;&#10;AI-generated content may be incorrect.">
            <a:extLst>
              <a:ext uri="{FF2B5EF4-FFF2-40B4-BE49-F238E27FC236}">
                <a16:creationId xmlns:a16="http://schemas.microsoft.com/office/drawing/2014/main" id="{20297299-5E3C-DBF8-5488-408F8CC15352}"/>
              </a:ext>
            </a:extLst>
          </p:cNvPr>
          <p:cNvPicPr>
            <a:picLocks noChangeAspect="1"/>
          </p:cNvPicPr>
          <p:nvPr/>
        </p:nvPicPr>
        <p:blipFill>
          <a:blip r:embed="rId2"/>
          <a:stretch>
            <a:fillRect/>
          </a:stretch>
        </p:blipFill>
        <p:spPr>
          <a:xfrm>
            <a:off x="174396" y="728145"/>
            <a:ext cx="11843208" cy="5721028"/>
          </a:xfrm>
          <a:prstGeom prst="rect">
            <a:avLst/>
          </a:prstGeom>
        </p:spPr>
      </p:pic>
      <p:sp>
        <p:nvSpPr>
          <p:cNvPr id="4" name="Title 3">
            <a:extLst>
              <a:ext uri="{FF2B5EF4-FFF2-40B4-BE49-F238E27FC236}">
                <a16:creationId xmlns:a16="http://schemas.microsoft.com/office/drawing/2014/main" id="{2D2DDE1E-D063-9EEC-2F48-95D3FC08A6ED}"/>
              </a:ext>
            </a:extLst>
          </p:cNvPr>
          <p:cNvSpPr>
            <a:spLocks noGrp="1"/>
          </p:cNvSpPr>
          <p:nvPr>
            <p:ph type="title"/>
          </p:nvPr>
        </p:nvSpPr>
        <p:spPr>
          <a:xfrm>
            <a:off x="253738" y="254284"/>
            <a:ext cx="9484151" cy="473861"/>
          </a:xfrm>
        </p:spPr>
        <p:txBody>
          <a:bodyPr>
            <a:normAutofit/>
          </a:bodyPr>
          <a:lstStyle/>
          <a:p>
            <a:r>
              <a:rPr lang="en-US" sz="2400" b="1" dirty="0"/>
              <a:t>Sales vs Discounts (Scatter Plot)</a:t>
            </a:r>
            <a:endParaRPr lang="en-IN" sz="2400" b="1" dirty="0"/>
          </a:p>
        </p:txBody>
      </p:sp>
    </p:spTree>
    <p:extLst>
      <p:ext uri="{BB962C8B-B14F-4D97-AF65-F5344CB8AC3E}">
        <p14:creationId xmlns:p14="http://schemas.microsoft.com/office/powerpoint/2010/main" val="3954539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2BA3F-9CE3-E77C-6E33-BCEA2129E580}"/>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1A2FA71-C23D-B1ED-F9B5-2710A0DF724A}"/>
              </a:ext>
            </a:extLst>
          </p:cNvPr>
          <p:cNvPicPr>
            <a:picLocks noChangeAspect="1"/>
          </p:cNvPicPr>
          <p:nvPr/>
        </p:nvPicPr>
        <p:blipFill>
          <a:blip r:embed="rId2"/>
          <a:stretch>
            <a:fillRect/>
          </a:stretch>
        </p:blipFill>
        <p:spPr>
          <a:xfrm>
            <a:off x="230956" y="864695"/>
            <a:ext cx="11730087" cy="5672497"/>
          </a:xfrm>
          <a:prstGeom prst="rect">
            <a:avLst/>
          </a:prstGeom>
        </p:spPr>
      </p:pic>
      <p:sp>
        <p:nvSpPr>
          <p:cNvPr id="4" name="Title 3">
            <a:extLst>
              <a:ext uri="{FF2B5EF4-FFF2-40B4-BE49-F238E27FC236}">
                <a16:creationId xmlns:a16="http://schemas.microsoft.com/office/drawing/2014/main" id="{B67CAE41-0A6D-F274-C212-7DE2C1C01537}"/>
              </a:ext>
            </a:extLst>
          </p:cNvPr>
          <p:cNvSpPr>
            <a:spLocks noGrp="1"/>
          </p:cNvSpPr>
          <p:nvPr>
            <p:ph type="title"/>
          </p:nvPr>
        </p:nvSpPr>
        <p:spPr>
          <a:xfrm>
            <a:off x="246667" y="494529"/>
            <a:ext cx="10515600" cy="370166"/>
          </a:xfrm>
        </p:spPr>
        <p:txBody>
          <a:bodyPr>
            <a:normAutofit fontScale="90000"/>
          </a:bodyPr>
          <a:lstStyle/>
          <a:p>
            <a:r>
              <a:rPr lang="en-US" sz="2400" b="1" dirty="0"/>
              <a:t>Sales by Product and Discount Band (Heat Map)</a:t>
            </a:r>
            <a:endParaRPr lang="en-IN" sz="2400" b="1" dirty="0"/>
          </a:p>
        </p:txBody>
      </p:sp>
    </p:spTree>
    <p:extLst>
      <p:ext uri="{BB962C8B-B14F-4D97-AF65-F5344CB8AC3E}">
        <p14:creationId xmlns:p14="http://schemas.microsoft.com/office/powerpoint/2010/main" val="667838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34094-2624-5C87-24F6-726D1F29A8E4}"/>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255E312D-853A-DD0D-E115-CB6CF4CA9DED}"/>
              </a:ext>
            </a:extLst>
          </p:cNvPr>
          <p:cNvPicPr>
            <a:picLocks noChangeAspect="1"/>
          </p:cNvPicPr>
          <p:nvPr/>
        </p:nvPicPr>
        <p:blipFill>
          <a:blip r:embed="rId2"/>
          <a:stretch>
            <a:fillRect/>
          </a:stretch>
        </p:blipFill>
        <p:spPr>
          <a:xfrm>
            <a:off x="221530" y="742897"/>
            <a:ext cx="11748940" cy="5719879"/>
          </a:xfrm>
          <a:prstGeom prst="rect">
            <a:avLst/>
          </a:prstGeom>
        </p:spPr>
      </p:pic>
      <p:sp>
        <p:nvSpPr>
          <p:cNvPr id="4" name="Title 3">
            <a:extLst>
              <a:ext uri="{FF2B5EF4-FFF2-40B4-BE49-F238E27FC236}">
                <a16:creationId xmlns:a16="http://schemas.microsoft.com/office/drawing/2014/main" id="{0B60E28C-8FE0-6FF8-DC8B-CC3CEC88040D}"/>
              </a:ext>
            </a:extLst>
          </p:cNvPr>
          <p:cNvSpPr>
            <a:spLocks noGrp="1"/>
          </p:cNvSpPr>
          <p:nvPr>
            <p:ph type="title"/>
          </p:nvPr>
        </p:nvSpPr>
        <p:spPr>
          <a:xfrm>
            <a:off x="221530" y="395224"/>
            <a:ext cx="10515600" cy="304178"/>
          </a:xfrm>
        </p:spPr>
        <p:txBody>
          <a:bodyPr>
            <a:normAutofit fontScale="90000"/>
          </a:bodyPr>
          <a:lstStyle/>
          <a:p>
            <a:r>
              <a:rPr lang="en-US" sz="2400" b="1" dirty="0"/>
              <a:t>Total sales</a:t>
            </a:r>
            <a:endParaRPr lang="en-IN" sz="2400" b="1" dirty="0"/>
          </a:p>
        </p:txBody>
      </p:sp>
    </p:spTree>
    <p:extLst>
      <p:ext uri="{BB962C8B-B14F-4D97-AF65-F5344CB8AC3E}">
        <p14:creationId xmlns:p14="http://schemas.microsoft.com/office/powerpoint/2010/main" val="123132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1A33F-6D7C-E815-9FA0-2358CAF25E86}"/>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F57619E-801C-078A-5E68-70BAC3D885C5}"/>
              </a:ext>
            </a:extLst>
          </p:cNvPr>
          <p:cNvPicPr>
            <a:picLocks noChangeAspect="1"/>
          </p:cNvPicPr>
          <p:nvPr/>
        </p:nvPicPr>
        <p:blipFill>
          <a:blip r:embed="rId2"/>
          <a:stretch>
            <a:fillRect/>
          </a:stretch>
        </p:blipFill>
        <p:spPr>
          <a:xfrm>
            <a:off x="287930" y="810705"/>
            <a:ext cx="11616140" cy="5628752"/>
          </a:xfrm>
          <a:prstGeom prst="rect">
            <a:avLst/>
          </a:prstGeom>
        </p:spPr>
      </p:pic>
      <p:sp>
        <p:nvSpPr>
          <p:cNvPr id="4" name="Title 3">
            <a:extLst>
              <a:ext uri="{FF2B5EF4-FFF2-40B4-BE49-F238E27FC236}">
                <a16:creationId xmlns:a16="http://schemas.microsoft.com/office/drawing/2014/main" id="{74A68546-F29A-17BE-A135-AD4341A2EB89}"/>
              </a:ext>
            </a:extLst>
          </p:cNvPr>
          <p:cNvSpPr>
            <a:spLocks noGrp="1"/>
          </p:cNvSpPr>
          <p:nvPr>
            <p:ph type="title"/>
          </p:nvPr>
        </p:nvSpPr>
        <p:spPr>
          <a:xfrm>
            <a:off x="287930" y="418543"/>
            <a:ext cx="10515600" cy="379593"/>
          </a:xfrm>
        </p:spPr>
        <p:txBody>
          <a:bodyPr>
            <a:normAutofit fontScale="90000"/>
          </a:bodyPr>
          <a:lstStyle/>
          <a:p>
            <a:r>
              <a:rPr lang="en-US" sz="2400" b="1" dirty="0"/>
              <a:t>Total Profit </a:t>
            </a:r>
            <a:endParaRPr lang="en-IN" sz="2400" b="1" dirty="0"/>
          </a:p>
        </p:txBody>
      </p:sp>
    </p:spTree>
    <p:extLst>
      <p:ext uri="{BB962C8B-B14F-4D97-AF65-F5344CB8AC3E}">
        <p14:creationId xmlns:p14="http://schemas.microsoft.com/office/powerpoint/2010/main" val="1546945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D76E-F0C2-67DF-DB29-136D0B10E9B3}"/>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FABF52AA-31AE-C867-95C4-3D9764015F4D}"/>
              </a:ext>
            </a:extLst>
          </p:cNvPr>
          <p:cNvPicPr>
            <a:picLocks noChangeAspect="1"/>
          </p:cNvPicPr>
          <p:nvPr/>
        </p:nvPicPr>
        <p:blipFill>
          <a:blip r:embed="rId2"/>
          <a:stretch>
            <a:fillRect/>
          </a:stretch>
        </p:blipFill>
        <p:spPr>
          <a:xfrm>
            <a:off x="226243" y="906061"/>
            <a:ext cx="11739513" cy="5640350"/>
          </a:xfrm>
          <a:prstGeom prst="rect">
            <a:avLst/>
          </a:prstGeom>
        </p:spPr>
      </p:pic>
      <p:sp>
        <p:nvSpPr>
          <p:cNvPr id="4" name="Title 3">
            <a:extLst>
              <a:ext uri="{FF2B5EF4-FFF2-40B4-BE49-F238E27FC236}">
                <a16:creationId xmlns:a16="http://schemas.microsoft.com/office/drawing/2014/main" id="{B89C989F-642B-861B-6404-1D54D9ED2B2A}"/>
              </a:ext>
            </a:extLst>
          </p:cNvPr>
          <p:cNvSpPr>
            <a:spLocks noGrp="1"/>
          </p:cNvSpPr>
          <p:nvPr>
            <p:ph type="title"/>
          </p:nvPr>
        </p:nvSpPr>
        <p:spPr>
          <a:xfrm>
            <a:off x="226243" y="459393"/>
            <a:ext cx="10515600" cy="379593"/>
          </a:xfrm>
        </p:spPr>
        <p:txBody>
          <a:bodyPr>
            <a:normAutofit fontScale="90000"/>
          </a:bodyPr>
          <a:lstStyle/>
          <a:p>
            <a:r>
              <a:rPr lang="en-IN" sz="2400" b="1" dirty="0"/>
              <a:t>Total Units Sold</a:t>
            </a:r>
          </a:p>
        </p:txBody>
      </p:sp>
    </p:spTree>
    <p:extLst>
      <p:ext uri="{BB962C8B-B14F-4D97-AF65-F5344CB8AC3E}">
        <p14:creationId xmlns:p14="http://schemas.microsoft.com/office/powerpoint/2010/main" val="1680215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EA09E-EB32-B7DD-2559-8D6606ED14A6}"/>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B7B2CE6-CA3E-BB29-95DE-8E7CCE1B58B8}"/>
              </a:ext>
            </a:extLst>
          </p:cNvPr>
          <p:cNvPicPr>
            <a:picLocks noChangeAspect="1"/>
          </p:cNvPicPr>
          <p:nvPr/>
        </p:nvPicPr>
        <p:blipFill>
          <a:blip r:embed="rId2"/>
          <a:stretch>
            <a:fillRect/>
          </a:stretch>
        </p:blipFill>
        <p:spPr>
          <a:xfrm>
            <a:off x="301657" y="951088"/>
            <a:ext cx="11588685" cy="5586000"/>
          </a:xfrm>
          <a:prstGeom prst="rect">
            <a:avLst/>
          </a:prstGeom>
        </p:spPr>
      </p:pic>
      <p:sp>
        <p:nvSpPr>
          <p:cNvPr id="4" name="Title 3">
            <a:extLst>
              <a:ext uri="{FF2B5EF4-FFF2-40B4-BE49-F238E27FC236}">
                <a16:creationId xmlns:a16="http://schemas.microsoft.com/office/drawing/2014/main" id="{3E41403F-6903-C7D1-1BA2-579F254E21FD}"/>
              </a:ext>
            </a:extLst>
          </p:cNvPr>
          <p:cNvSpPr>
            <a:spLocks noGrp="1"/>
          </p:cNvSpPr>
          <p:nvPr>
            <p:ph type="title"/>
          </p:nvPr>
        </p:nvSpPr>
        <p:spPr>
          <a:xfrm>
            <a:off x="301657" y="506528"/>
            <a:ext cx="10515600" cy="370166"/>
          </a:xfrm>
        </p:spPr>
        <p:txBody>
          <a:bodyPr>
            <a:normAutofit fontScale="90000"/>
          </a:bodyPr>
          <a:lstStyle/>
          <a:p>
            <a:r>
              <a:rPr lang="en-IN" sz="2400" b="1" dirty="0"/>
              <a:t>Total COGS</a:t>
            </a:r>
          </a:p>
        </p:txBody>
      </p:sp>
    </p:spTree>
    <p:extLst>
      <p:ext uri="{BB962C8B-B14F-4D97-AF65-F5344CB8AC3E}">
        <p14:creationId xmlns:p14="http://schemas.microsoft.com/office/powerpoint/2010/main" val="1565856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281FB-BBF8-BA6B-4A59-45740CF17594}"/>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4F3976E9-8FBF-3D4B-AF74-4385664D9016}"/>
              </a:ext>
            </a:extLst>
          </p:cNvPr>
          <p:cNvPicPr>
            <a:picLocks noChangeAspect="1"/>
          </p:cNvPicPr>
          <p:nvPr/>
        </p:nvPicPr>
        <p:blipFill>
          <a:blip r:embed="rId2"/>
          <a:stretch>
            <a:fillRect/>
          </a:stretch>
        </p:blipFill>
        <p:spPr>
          <a:xfrm>
            <a:off x="240981" y="952108"/>
            <a:ext cx="11710037" cy="5659647"/>
          </a:xfrm>
          <a:prstGeom prst="rect">
            <a:avLst/>
          </a:prstGeom>
        </p:spPr>
      </p:pic>
      <p:sp>
        <p:nvSpPr>
          <p:cNvPr id="4" name="Title 3">
            <a:extLst>
              <a:ext uri="{FF2B5EF4-FFF2-40B4-BE49-F238E27FC236}">
                <a16:creationId xmlns:a16="http://schemas.microsoft.com/office/drawing/2014/main" id="{5D8C56E1-F516-82A5-39DF-6D2ECCEB40D5}"/>
              </a:ext>
            </a:extLst>
          </p:cNvPr>
          <p:cNvSpPr>
            <a:spLocks noGrp="1"/>
          </p:cNvSpPr>
          <p:nvPr>
            <p:ph type="title"/>
          </p:nvPr>
        </p:nvSpPr>
        <p:spPr>
          <a:xfrm>
            <a:off x="240981" y="431113"/>
            <a:ext cx="10515600" cy="426727"/>
          </a:xfrm>
        </p:spPr>
        <p:txBody>
          <a:bodyPr>
            <a:normAutofit/>
          </a:bodyPr>
          <a:lstStyle/>
          <a:p>
            <a:r>
              <a:rPr lang="en-US" sz="2400" b="1" dirty="0"/>
              <a:t>Profit Margin by Segment (Donut Chart)</a:t>
            </a:r>
            <a:endParaRPr lang="en-IN" sz="2400" b="1" dirty="0"/>
          </a:p>
        </p:txBody>
      </p:sp>
    </p:spTree>
    <p:extLst>
      <p:ext uri="{BB962C8B-B14F-4D97-AF65-F5344CB8AC3E}">
        <p14:creationId xmlns:p14="http://schemas.microsoft.com/office/powerpoint/2010/main" val="2029874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4E580-A16A-DDF4-CAAC-091E33B08061}"/>
            </a:ext>
          </a:extLst>
        </p:cNvPr>
        <p:cNvGrpSpPr/>
        <p:nvPr/>
      </p:nvGrpSpPr>
      <p:grpSpPr>
        <a:xfrm>
          <a:off x="0" y="0"/>
          <a:ext cx="0" cy="0"/>
          <a:chOff x="0" y="0"/>
          <a:chExt cx="0" cy="0"/>
        </a:xfrm>
      </p:grpSpPr>
      <p:pic>
        <p:nvPicPr>
          <p:cNvPr id="3" name="Picture 2" descr="A screenshot of a computer screen&#10;&#10;AI-generated content may be incorrect.">
            <a:extLst>
              <a:ext uri="{FF2B5EF4-FFF2-40B4-BE49-F238E27FC236}">
                <a16:creationId xmlns:a16="http://schemas.microsoft.com/office/drawing/2014/main" id="{3394CB3C-8FB3-A9E2-143B-774691798D45}"/>
              </a:ext>
            </a:extLst>
          </p:cNvPr>
          <p:cNvPicPr>
            <a:picLocks noChangeAspect="1"/>
          </p:cNvPicPr>
          <p:nvPr/>
        </p:nvPicPr>
        <p:blipFill>
          <a:blip r:embed="rId2"/>
          <a:stretch>
            <a:fillRect/>
          </a:stretch>
        </p:blipFill>
        <p:spPr>
          <a:xfrm>
            <a:off x="136688" y="770303"/>
            <a:ext cx="11918623" cy="5769880"/>
          </a:xfrm>
          <a:prstGeom prst="rect">
            <a:avLst/>
          </a:prstGeom>
        </p:spPr>
      </p:pic>
      <p:sp>
        <p:nvSpPr>
          <p:cNvPr id="4" name="Title 3">
            <a:extLst>
              <a:ext uri="{FF2B5EF4-FFF2-40B4-BE49-F238E27FC236}">
                <a16:creationId xmlns:a16="http://schemas.microsoft.com/office/drawing/2014/main" id="{103E6C7B-835F-F955-F5B0-AE1E2A18760C}"/>
              </a:ext>
            </a:extLst>
          </p:cNvPr>
          <p:cNvSpPr>
            <a:spLocks noGrp="1"/>
          </p:cNvSpPr>
          <p:nvPr>
            <p:ph type="title"/>
          </p:nvPr>
        </p:nvSpPr>
        <p:spPr>
          <a:xfrm>
            <a:off x="136688" y="317817"/>
            <a:ext cx="10515600" cy="405178"/>
          </a:xfrm>
        </p:spPr>
        <p:txBody>
          <a:bodyPr>
            <a:normAutofit fontScale="90000"/>
          </a:bodyPr>
          <a:lstStyle/>
          <a:p>
            <a:r>
              <a:rPr lang="en-IN" sz="2400" b="1" dirty="0"/>
              <a:t>Geographic Sales Map</a:t>
            </a:r>
          </a:p>
        </p:txBody>
      </p:sp>
    </p:spTree>
    <p:extLst>
      <p:ext uri="{BB962C8B-B14F-4D97-AF65-F5344CB8AC3E}">
        <p14:creationId xmlns:p14="http://schemas.microsoft.com/office/powerpoint/2010/main" val="1200709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A203-E42E-ABDB-63EA-E6CCEEC4145E}"/>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F01BB5B1-BDA3-960E-8011-179F8F8269FB}"/>
              </a:ext>
            </a:extLst>
          </p:cNvPr>
          <p:cNvPicPr>
            <a:picLocks noChangeAspect="1"/>
          </p:cNvPicPr>
          <p:nvPr/>
        </p:nvPicPr>
        <p:blipFill>
          <a:blip r:embed="rId2"/>
          <a:stretch>
            <a:fillRect/>
          </a:stretch>
        </p:blipFill>
        <p:spPr>
          <a:xfrm>
            <a:off x="113121" y="851613"/>
            <a:ext cx="11965757" cy="5811405"/>
          </a:xfrm>
          <a:prstGeom prst="rect">
            <a:avLst/>
          </a:prstGeom>
        </p:spPr>
      </p:pic>
      <p:sp>
        <p:nvSpPr>
          <p:cNvPr id="4" name="Title 3">
            <a:extLst>
              <a:ext uri="{FF2B5EF4-FFF2-40B4-BE49-F238E27FC236}">
                <a16:creationId xmlns:a16="http://schemas.microsoft.com/office/drawing/2014/main" id="{9C9CB50F-29B0-AEF0-822F-BDBF069509E2}"/>
              </a:ext>
            </a:extLst>
          </p:cNvPr>
          <p:cNvSpPr>
            <a:spLocks noGrp="1"/>
          </p:cNvSpPr>
          <p:nvPr>
            <p:ph type="title"/>
          </p:nvPr>
        </p:nvSpPr>
        <p:spPr>
          <a:xfrm>
            <a:off x="113121" y="374553"/>
            <a:ext cx="10515600" cy="389018"/>
          </a:xfrm>
        </p:spPr>
        <p:txBody>
          <a:bodyPr>
            <a:normAutofit fontScale="90000"/>
          </a:bodyPr>
          <a:lstStyle/>
          <a:p>
            <a:r>
              <a:rPr lang="en-IN" sz="2400" b="1" dirty="0"/>
              <a:t>Product Contribution (Tree map)</a:t>
            </a:r>
          </a:p>
        </p:txBody>
      </p:sp>
    </p:spTree>
    <p:extLst>
      <p:ext uri="{BB962C8B-B14F-4D97-AF65-F5344CB8AC3E}">
        <p14:creationId xmlns:p14="http://schemas.microsoft.com/office/powerpoint/2010/main" val="1093257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180</Words>
  <Application>Microsoft Office PowerPoint</Application>
  <PresentationFormat>Widescreen</PresentationFormat>
  <Paragraphs>24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Financial Performance Dashboard Project </vt:lpstr>
      <vt:lpstr>Dataset </vt:lpstr>
      <vt:lpstr>PowerPoint Presentation</vt:lpstr>
      <vt:lpstr>Sales by Country (Bar graph)</vt:lpstr>
      <vt:lpstr>Sales Trend (Line Graph) </vt:lpstr>
      <vt:lpstr>Sales vs Discounts (Scatter Plot)</vt:lpstr>
      <vt:lpstr>Sales by Product and Discount Band (Heat Map)</vt:lpstr>
      <vt:lpstr>Total sales</vt:lpstr>
      <vt:lpstr>Total Profit </vt:lpstr>
      <vt:lpstr>Total Units Sold</vt:lpstr>
      <vt:lpstr>Total COGS</vt:lpstr>
      <vt:lpstr>Profit Margin by Segment (Donut Chart)</vt:lpstr>
      <vt:lpstr>Geographic Sales Map</vt:lpstr>
      <vt:lpstr>Product Contribution (Tree 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7</dc:creator>
  <cp:lastModifiedBy>MOHIT 7</cp:lastModifiedBy>
  <cp:revision>1</cp:revision>
  <dcterms:created xsi:type="dcterms:W3CDTF">2026-05-25T00:22:05Z</dcterms:created>
  <dcterms:modified xsi:type="dcterms:W3CDTF">2026-05-25T00:24:52Z</dcterms:modified>
</cp:coreProperties>
</file>